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530" r:id="rId5"/>
    <p:sldId id="531" r:id="rId6"/>
    <p:sldId id="533" r:id="rId7"/>
    <p:sldId id="534" r:id="rId8"/>
    <p:sldId id="547" r:id="rId9"/>
    <p:sldId id="548" r:id="rId10"/>
    <p:sldId id="546" r:id="rId11"/>
    <p:sldId id="538" r:id="rId12"/>
    <p:sldId id="549" r:id="rId13"/>
    <p:sldId id="543" r:id="rId14"/>
    <p:sldId id="54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Tsotetsi" userId="e66a9a0024d092c7" providerId="LiveId" clId="{9B9CD204-4C8D-4F89-A632-19A1386CF501}"/>
    <pc:docChg chg="modSld">
      <pc:chgData name="Caroline Tsotetsi" userId="e66a9a0024d092c7" providerId="LiveId" clId="{9B9CD204-4C8D-4F89-A632-19A1386CF501}" dt="2026-09-29T21:29:39.726" v="4"/>
      <pc:docMkLst>
        <pc:docMk/>
      </pc:docMkLst>
      <pc:sldChg chg="modSp">
        <pc:chgData name="Caroline Tsotetsi" userId="e66a9a0024d092c7" providerId="LiveId" clId="{9B9CD204-4C8D-4F89-A632-19A1386CF501}" dt="2026-09-29T21:29:39.726" v="4"/>
        <pc:sldMkLst>
          <pc:docMk/>
          <pc:sldMk cId="1877701230" sldId="544"/>
        </pc:sldMkLst>
        <pc:spChg chg="mod">
          <ac:chgData name="Caroline Tsotetsi" userId="e66a9a0024d092c7" providerId="LiveId" clId="{9B9CD204-4C8D-4F89-A632-19A1386CF501}" dt="2026-09-29T21:29:39.726" v="4"/>
          <ac:spMkLst>
            <pc:docMk/>
            <pc:sldMk cId="1877701230" sldId="544"/>
            <ac:spMk id="3" creationId="{55519D01-29BE-BE76-41C5-9D58AD8119DC}"/>
          </ac:spMkLst>
        </pc:spChg>
      </pc:sldChg>
      <pc:sldChg chg="modSp mod">
        <pc:chgData name="Caroline Tsotetsi" userId="e66a9a0024d092c7" providerId="LiveId" clId="{9B9CD204-4C8D-4F89-A632-19A1386CF501}" dt="2026-09-29T21:29:09.351" v="3" actId="5793"/>
        <pc:sldMkLst>
          <pc:docMk/>
          <pc:sldMk cId="2269671940" sldId="549"/>
        </pc:sldMkLst>
        <pc:spChg chg="mod">
          <ac:chgData name="Caroline Tsotetsi" userId="e66a9a0024d092c7" providerId="LiveId" clId="{9B9CD204-4C8D-4F89-A632-19A1386CF501}" dt="2026-09-29T21:29:09.351" v="3" actId="5793"/>
          <ac:spMkLst>
            <pc:docMk/>
            <pc:sldMk cId="2269671940" sldId="549"/>
            <ac:spMk id="10" creationId="{11D2CBBE-8281-CC67-97EE-D08EB501CD8C}"/>
          </ac:spMkLst>
        </pc:spChg>
        <pc:spChg chg="mod">
          <ac:chgData name="Caroline Tsotetsi" userId="e66a9a0024d092c7" providerId="LiveId" clId="{9B9CD204-4C8D-4F89-A632-19A1386CF501}" dt="2026-09-29T21:29:07.029" v="2" actId="14100"/>
          <ac:spMkLst>
            <pc:docMk/>
            <pc:sldMk cId="2269671940" sldId="549"/>
            <ac:spMk id="11" creationId="{C13337E3-12D5-731A-A02F-208C798AF390}"/>
          </ac:spMkLst>
        </pc:spChg>
        <pc:spChg chg="mod">
          <ac:chgData name="Caroline Tsotetsi" userId="e66a9a0024d092c7" providerId="LiveId" clId="{9B9CD204-4C8D-4F89-A632-19A1386CF501}" dt="2026-09-29T21:28:49.511" v="0"/>
          <ac:spMkLst>
            <pc:docMk/>
            <pc:sldMk cId="2269671940" sldId="549"/>
            <ac:spMk id="12" creationId="{701C5B51-AB46-C7B4-5300-EBE5B939F3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Sales Performance, Pricing &amp; Promotion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Boitumelo Tsotetsi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566928"/>
            <a:ext cx="8878824" cy="1069848"/>
          </a:xfrm>
        </p:spPr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700784"/>
            <a:ext cx="6355080" cy="3511296"/>
          </a:xfrm>
        </p:spPr>
        <p:txBody>
          <a:bodyPr/>
          <a:lstStyle/>
          <a:p>
            <a:pPr marL="342900" indent="-342900"/>
            <a:r>
              <a:rPr lang="en-ZA" dirty="0"/>
              <a:t>Business Objectives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ZA" dirty="0"/>
              <a:t>Executive KPI Summary</a:t>
            </a:r>
          </a:p>
          <a:p>
            <a:pPr marL="342900" indent="-342900"/>
            <a:r>
              <a:rPr lang="en-ZA" dirty="0"/>
              <a:t>Sales Trend</a:t>
            </a:r>
          </a:p>
          <a:p>
            <a:pPr marL="342900" indent="-342900"/>
            <a:r>
              <a:rPr lang="en-ZA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Normal Price vs Promotional Price</a:t>
            </a:r>
          </a:p>
          <a:p>
            <a:pPr marL="342900" indent="-342900"/>
            <a:r>
              <a:rPr lang="en-ZA" dirty="0">
                <a:latin typeface="Segoe UI Light" panose="020B0502040204020203" pitchFamily="34" charset="0"/>
                <a:cs typeface="Segoe UI Light" panose="020B0502040204020203" pitchFamily="34" charset="0"/>
              </a:rPr>
              <a:t>Business Insights</a:t>
            </a:r>
            <a:endParaRPr lang="en-ZA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/>
            <a:r>
              <a:rPr lang="en-ZA" dirty="0">
                <a:latin typeface="Segoe UI Light" panose="020B0502040204020203" pitchFamily="34" charset="0"/>
                <a:cs typeface="Segoe UI Light" panose="020B0502040204020203" pitchFamily="34" charset="0"/>
              </a:rPr>
              <a:t>Business Recommendations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Conclusion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BrightLearn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The objective of this analysis is to evaluate the product's sales performance, pricing, profitability and response to promotional pricing.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EXECUTIVE KPI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856E-6724-19B0-280F-A4C0FC63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metrics</a:t>
            </a:r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F8245-2C13-0B22-8FC7-7CC84482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BrightLearn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7C366-D921-A68D-E563-2D9AAC53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15019C-F518-B37A-8F28-FD6D86CF4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4515"/>
              </p:ext>
            </p:extLst>
          </p:nvPr>
        </p:nvGraphicFramePr>
        <p:xfrm>
          <a:off x="850392" y="1722120"/>
          <a:ext cx="10753344" cy="410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6672">
                  <a:extLst>
                    <a:ext uri="{9D8B030D-6E8A-4147-A177-3AD203B41FA5}">
                      <a16:colId xmlns:a16="http://schemas.microsoft.com/office/drawing/2014/main" val="2218614803"/>
                    </a:ext>
                  </a:extLst>
                </a:gridCol>
                <a:gridCol w="5376672">
                  <a:extLst>
                    <a:ext uri="{9D8B030D-6E8A-4147-A177-3AD203B41FA5}">
                      <a16:colId xmlns:a16="http://schemas.microsoft.com/office/drawing/2014/main" val="102608340"/>
                    </a:ext>
                  </a:extLst>
                </a:gridCol>
              </a:tblGrid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R186,909,828.12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690310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Total Cost of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R194,026,109.57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841072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Total Quantity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5,279,872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34610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Total 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-R7,116,281.45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386554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Overall Gross Profit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-3.81%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912620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Weighted Average Unit Selling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R35.40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036017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Overall Gross Profit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-R1.35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475630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Loss-Making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607 out of 1,053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393283"/>
                  </a:ext>
                </a:extLst>
              </a:tr>
              <a:tr h="455845">
                <a:tc>
                  <a:txBody>
                    <a:bodyPr/>
                    <a:lstStyle/>
                    <a:p>
                      <a:r>
                        <a:rPr lang="en-ZA" dirty="0"/>
                        <a:t>Loss-Making Days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57.65%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684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50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00B6-7ED7-4EE5-243E-368846E8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Sales Trend</a:t>
            </a:r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9A299-3D07-A4E2-B688-3A8FC381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BrightLearn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96EEF-02E5-FDDA-9FCA-DB64FA81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CD6813-E85A-9E81-F4F3-E6AAF90E8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716" y="1901952"/>
            <a:ext cx="5116290" cy="3886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5EDB7F-1C2C-4247-8902-1BB8A88A1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91656" y="1901952"/>
            <a:ext cx="563874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2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68">
            <a:extLst>
              <a:ext uri="{FF2B5EF4-FFF2-40B4-BE49-F238E27FC236}">
                <a16:creationId xmlns:a16="http://schemas.microsoft.com/office/drawing/2014/main" id="{0B07383B-6310-56A6-B051-F4B962E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NORMAL PRICE VS PROMOTIONAL PRICE</a:t>
            </a:r>
            <a:endParaRPr lang="en-US" dirty="0"/>
          </a:p>
        </p:txBody>
      </p:sp>
      <p:pic>
        <p:nvPicPr>
          <p:cNvPr id="32" name="Picture 31" descr="promo_volume.png">
            <a:extLst>
              <a:ext uri="{FF2B5EF4-FFF2-40B4-BE49-F238E27FC236}">
                <a16:creationId xmlns:a16="http://schemas.microsoft.com/office/drawing/2014/main" id="{C8BDB6D0-C56A-DC27-BA2F-AD3FC42B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2057400"/>
            <a:ext cx="6492240" cy="4297680"/>
          </a:xfrm>
          <a:prstGeom prst="rect">
            <a:avLst/>
          </a:prstGeom>
        </p:spPr>
      </p:pic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38490004-D009-C58A-09CA-0C1203473284}"/>
              </a:ext>
            </a:extLst>
          </p:cNvPr>
          <p:cNvSpPr/>
          <p:nvPr/>
        </p:nvSpPr>
        <p:spPr>
          <a:xfrm>
            <a:off x="7260336" y="2057400"/>
            <a:ext cx="416052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000" b="1">
                <a:solidFill>
                  <a:srgbClr val="646E78"/>
                </a:solidFill>
              </a:defRPr>
            </a:pPr>
            <a:r>
              <a:rPr dirty="0"/>
              <a:t>Promo 2</a:t>
            </a:r>
          </a:p>
          <a:p>
            <a:pPr>
              <a:defRPr sz="2200" b="1">
                <a:solidFill>
                  <a:srgbClr val="182848"/>
                </a:solidFill>
              </a:defRPr>
            </a:pPr>
            <a:r>
              <a:rPr dirty="0"/>
              <a:t>10,440 units/day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rPr dirty="0"/>
              <a:t>Elasticity -6.17 • GP% -3.0%</a:t>
            </a:r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E899B7FA-FCFB-0653-6511-0A2F24FA47AA}"/>
              </a:ext>
            </a:extLst>
          </p:cNvPr>
          <p:cNvSpPr/>
          <p:nvPr/>
        </p:nvSpPr>
        <p:spPr>
          <a:xfrm>
            <a:off x="7260336" y="3616452"/>
            <a:ext cx="416052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000" b="1">
                <a:solidFill>
                  <a:srgbClr val="646E78"/>
                </a:solidFill>
              </a:defRPr>
            </a:pPr>
            <a:r>
              <a:rPr dirty="0"/>
              <a:t>Promo 5</a:t>
            </a:r>
          </a:p>
          <a:p>
            <a:pPr>
              <a:defRPr sz="2200" b="1">
                <a:solidFill>
                  <a:srgbClr val="182848"/>
                </a:solidFill>
              </a:defRPr>
            </a:pPr>
            <a:r>
              <a:rPr dirty="0"/>
              <a:t>13,210 units/day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rPr dirty="0"/>
              <a:t>Elasticity -7.98 • GP% -7.3%</a:t>
            </a:r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40EE3807-829E-2774-A530-26044A200382}"/>
              </a:ext>
            </a:extLst>
          </p:cNvPr>
          <p:cNvSpPr/>
          <p:nvPr/>
        </p:nvSpPr>
        <p:spPr>
          <a:xfrm>
            <a:off x="7260336" y="5175504"/>
            <a:ext cx="416052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tlCol="0" anchor="ctr"/>
          <a:lstStyle/>
          <a:p>
            <a:pPr algn="ctr">
              <a:defRPr sz="1000" b="1">
                <a:solidFill>
                  <a:srgbClr val="646E78"/>
                </a:solidFill>
              </a:defRPr>
            </a:pPr>
            <a:r>
              <a:rPr dirty="0"/>
              <a:t>Promo 9</a:t>
            </a:r>
          </a:p>
          <a:p>
            <a:pPr>
              <a:defRPr sz="2200" b="1">
                <a:solidFill>
                  <a:srgbClr val="182848"/>
                </a:solidFill>
              </a:defRPr>
            </a:pPr>
            <a:r>
              <a:rPr dirty="0"/>
              <a:t>7,376 units/day</a:t>
            </a:r>
          </a:p>
          <a:p>
            <a:pPr>
              <a:defRPr sz="850">
                <a:solidFill>
                  <a:srgbClr val="646E78"/>
                </a:solidFill>
              </a:defRPr>
            </a:pPr>
            <a:r>
              <a:rPr dirty="0"/>
              <a:t>Elasticity -4.19 • GP% -2.1%</a:t>
            </a:r>
          </a:p>
        </p:txBody>
      </p: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94176" cy="493776"/>
          </a:xfrm>
        </p:spPr>
        <p:txBody>
          <a:bodyPr/>
          <a:lstStyle/>
          <a:p>
            <a:r>
              <a:rPr lang="en-ZA" dirty="0"/>
              <a:t>Optimise Promotional Discounts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971800"/>
            <a:ext cx="3621024" cy="2578608"/>
          </a:xfrm>
        </p:spPr>
        <p:txBody>
          <a:bodyPr/>
          <a:lstStyle/>
          <a:p>
            <a:r>
              <a:rPr lang="en-ZA" dirty="0"/>
              <a:t>Because demand is highly elastic, smaller price reductions may potentially generate meaningful volume increases without sacrificing as much margin.</a:t>
            </a:r>
          </a:p>
          <a:p>
            <a:r>
              <a:rPr lang="en-ZA" dirty="0"/>
              <a:t>Test different discount levels and compare:</a:t>
            </a:r>
          </a:p>
          <a:p>
            <a:r>
              <a:rPr lang="en-ZA" b="1" dirty="0"/>
              <a:t>Discount → Volume → Revenue → Gross Profit</a:t>
            </a:r>
            <a:r>
              <a:rPr lang="en-US" dirty="0"/>
              <a:t>​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/>
              <a:t>Review Pricing Strategy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Establish a minimum selling price that protects gross profit per unit.</a:t>
            </a:r>
          </a:p>
          <a:p>
            <a:pPr marL="0" indent="0">
              <a:buNone/>
            </a:pPr>
            <a:r>
              <a:rPr lang="en-ZA" dirty="0"/>
              <a:t>Monitor:</a:t>
            </a:r>
          </a:p>
          <a:p>
            <a:pPr lvl="0"/>
            <a:r>
              <a:rPr lang="en-ZA" dirty="0"/>
              <a:t>Unit cost</a:t>
            </a:r>
          </a:p>
          <a:p>
            <a:pPr lvl="0"/>
            <a:r>
              <a:rPr lang="en-ZA" dirty="0"/>
              <a:t>Selling price</a:t>
            </a:r>
          </a:p>
          <a:p>
            <a:pPr lvl="0"/>
            <a:r>
              <a:rPr lang="en-ZA" dirty="0"/>
              <a:t>Gross profit per unit</a:t>
            </a:r>
          </a:p>
          <a:p>
            <a:pPr lvl="0"/>
            <a:r>
              <a:rPr lang="en-ZA" dirty="0"/>
              <a:t>Gross profit %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BrightLearn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4BCC7-6F27-7ED4-333B-2E5AAD93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A432-4162-CCCE-836B-5B4C5A99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01FB9B-C16D-AC0F-9950-00ACBEA6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399AA-ADDD-9EE3-EC8F-2BB0840C1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94176" cy="493776"/>
          </a:xfrm>
        </p:spPr>
        <p:txBody>
          <a:bodyPr/>
          <a:lstStyle/>
          <a:p>
            <a:r>
              <a:rPr lang="en-ZA" dirty="0"/>
              <a:t>Strong Price Sensitivity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E9C84-83A1-BCB6-FB24-47C9CEFD0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743200"/>
            <a:ext cx="3621024" cy="2578608"/>
          </a:xfrm>
        </p:spPr>
        <p:txBody>
          <a:bodyPr/>
          <a:lstStyle/>
          <a:p>
            <a:r>
              <a:rPr lang="en-ZA" dirty="0"/>
              <a:t>Promotional periods show highly elastic demand, with elasticity values ranging from </a:t>
            </a:r>
            <a:r>
              <a:rPr lang="en-ZA" b="1" dirty="0"/>
              <a:t>-4.19 to -7.98</a:t>
            </a:r>
            <a:r>
              <a:rPr lang="en-ZA" dirty="0"/>
              <a:t>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0031D-CA6E-540A-E3FB-2DBE910E7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4142232" cy="493776"/>
          </a:xfrm>
        </p:spPr>
        <p:txBody>
          <a:bodyPr/>
          <a:lstStyle/>
          <a:p>
            <a:r>
              <a:rPr lang="en-ZA" dirty="0"/>
              <a:t>Promotions Increase Volume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FDC64-5DB7-7E7F-4E36-FAC1D88574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Average daily promotional quantity was approximately </a:t>
            </a:r>
            <a:r>
              <a:rPr lang="en-ZA" b="1" dirty="0"/>
              <a:t>9,970 units</a:t>
            </a:r>
            <a:r>
              <a:rPr lang="en-ZA" dirty="0"/>
              <a:t>, compared with </a:t>
            </a:r>
            <a:r>
              <a:rPr lang="en-ZA" b="1" dirty="0"/>
              <a:t>4,260 units</a:t>
            </a:r>
            <a:r>
              <a:rPr lang="en-ZA" dirty="0"/>
              <a:t> during normal pricing.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975973-E3B0-0CE1-6A10-3EE9E9FB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BrightLearn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97E3C57-49FA-276E-9327-79A374E28144}"/>
              </a:ext>
            </a:extLst>
          </p:cNvPr>
          <p:cNvSpPr txBox="1">
            <a:spLocks/>
          </p:cNvSpPr>
          <p:nvPr/>
        </p:nvSpPr>
        <p:spPr>
          <a:xfrm>
            <a:off x="1545336" y="4187952"/>
            <a:ext cx="3995928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Promotions Increase Revenue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1D2CBBE-8281-CC67-97EE-D08EB501CD8C}"/>
              </a:ext>
            </a:extLst>
          </p:cNvPr>
          <p:cNvSpPr txBox="1">
            <a:spLocks/>
          </p:cNvSpPr>
          <p:nvPr/>
        </p:nvSpPr>
        <p:spPr>
          <a:xfrm>
            <a:off x="1545336" y="4745736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/>
              <a:t>Average daily sales increased from approximately:</a:t>
            </a:r>
          </a:p>
          <a:p>
            <a:r>
              <a:rPr lang="en-ZA" b="1" dirty="0"/>
              <a:t>R155,839 → R319,947 </a:t>
            </a:r>
            <a:r>
              <a:rPr lang="en-ZA" dirty="0"/>
              <a:t>during promotional periods.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13337E3-12D5-731A-A02F-208C798AF390}"/>
              </a:ext>
            </a:extLst>
          </p:cNvPr>
          <p:cNvSpPr txBox="1">
            <a:spLocks/>
          </p:cNvSpPr>
          <p:nvPr/>
        </p:nvSpPr>
        <p:spPr>
          <a:xfrm>
            <a:off x="5541264" y="4187952"/>
            <a:ext cx="4617720" cy="4937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400" b="1" kern="120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Loss-Making Days Are Significant</a:t>
            </a:r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01C5B51-AB46-C7B4-5300-EBE5B939F3B7}"/>
              </a:ext>
            </a:extLst>
          </p:cNvPr>
          <p:cNvSpPr txBox="1">
            <a:spLocks/>
          </p:cNvSpPr>
          <p:nvPr/>
        </p:nvSpPr>
        <p:spPr>
          <a:xfrm>
            <a:off x="5541264" y="4745736"/>
            <a:ext cx="3621024" cy="2578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/>
              <a:t>57.65% of all observed days were loss-making..</a:t>
            </a:r>
          </a:p>
        </p:txBody>
      </p:sp>
    </p:spTree>
    <p:extLst>
      <p:ext uri="{BB962C8B-B14F-4D97-AF65-F5344CB8AC3E}">
        <p14:creationId xmlns:p14="http://schemas.microsoft.com/office/powerpoint/2010/main" val="2269671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The analysis shows that the product has </a:t>
            </a:r>
            <a:r>
              <a:rPr lang="en-ZA" b="1" dirty="0"/>
              <a:t>highly price-sensitive demand</a:t>
            </a:r>
            <a:r>
              <a:rPr lang="en-ZA" dirty="0"/>
              <a:t>. Promotional pricing resulted in significantly higher quantities sold and higher daily sales.</a:t>
            </a:r>
          </a:p>
          <a:p>
            <a:r>
              <a:rPr lang="en-ZA" dirty="0"/>
              <a:t>However, the analysis also shows that </a:t>
            </a:r>
            <a:r>
              <a:rPr lang="en-ZA" b="1" dirty="0"/>
              <a:t>higher volume does not necessarily translate into stronger profitability</a:t>
            </a:r>
            <a:r>
              <a:rPr lang="en-ZA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Boitumelo Tsotetsi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tsotetsiboitumelo1@gmail.com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Student Nr: </a:t>
            </a:r>
            <a:r>
              <a:rPr lang="en-US" dirty="0"/>
              <a:t>2805002206</a:t>
            </a:r>
            <a:endParaRPr lang="en-US" dirty="0">
              <a:latin typeface="Segoe UI Light" panose="020B0502040204020203" pitchFamily="34" charset="0"/>
              <a:ea typeface="Calibri" panose="020F0502020204030204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45</TotalTime>
  <Words>365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Segoe UI Light</vt:lpstr>
      <vt:lpstr>Tw Cen MT</vt:lpstr>
      <vt:lpstr>Office Theme</vt:lpstr>
      <vt:lpstr>Sales Performance, Pricing &amp; Promotion Analysis</vt:lpstr>
      <vt:lpstr>CONTENTS</vt:lpstr>
      <vt:lpstr>objective</vt:lpstr>
      <vt:lpstr>EXECUTIVE KPI summary</vt:lpstr>
      <vt:lpstr>Key metrics</vt:lpstr>
      <vt:lpstr>Sales Trend</vt:lpstr>
      <vt:lpstr>NORMAL PRICE VS PROMOTIONAL PRICE</vt:lpstr>
      <vt:lpstr>Business Recommendations</vt:lpstr>
      <vt:lpstr>Business insights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Tsotetsi</dc:creator>
  <cp:lastModifiedBy>Caroline Tsotetsi</cp:lastModifiedBy>
  <cp:revision>1</cp:revision>
  <dcterms:created xsi:type="dcterms:W3CDTF">2026-09-29T20:44:23Z</dcterms:created>
  <dcterms:modified xsi:type="dcterms:W3CDTF">2026-09-29T21:29:45Z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